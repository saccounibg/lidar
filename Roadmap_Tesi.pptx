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7" r:id="rId5"/>
    <p:sldId id="291" r:id="rId6"/>
    <p:sldId id="290" r:id="rId7"/>
    <p:sldId id="311" r:id="rId8"/>
    <p:sldId id="320" r:id="rId9"/>
    <p:sldId id="316" r:id="rId10"/>
    <p:sldId id="319" r:id="rId11"/>
    <p:sldId id="315" r:id="rId12"/>
    <p:sldId id="318" r:id="rId13"/>
    <p:sldId id="321" r:id="rId14"/>
    <p:sldId id="317" r:id="rId15"/>
    <p:sldId id="322" r:id="rId16"/>
    <p:sldId id="323" r:id="rId17"/>
    <p:sldId id="324" r:id="rId18"/>
    <p:sldId id="325" r:id="rId19"/>
    <p:sldId id="326" r:id="rId20"/>
    <p:sldId id="314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6643"/>
    <a:srgbClr val="000000"/>
    <a:srgbClr val="426EB0"/>
    <a:srgbClr val="4E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49" autoAdjust="0"/>
    <p:restoredTop sz="91226" autoAdjust="0"/>
  </p:normalViewPr>
  <p:slideViewPr>
    <p:cSldViewPr snapToGrid="0" snapToObjects="1">
      <p:cViewPr varScale="1">
        <p:scale>
          <a:sx n="157" d="100"/>
          <a:sy n="157" d="100"/>
        </p:scale>
        <p:origin x="288" y="176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600" dirty="0">
                <a:latin typeface="Rubik" pitchFamily="2" charset="-79"/>
                <a:cs typeface="Rubik" pitchFamily="2" charset="-79"/>
              </a:rPr>
              <a:t>Titolo del grafico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T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426EB0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43-6243-93FF-BA006A7DA150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43-6243-93FF-BA006A7DA150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Foglio1!$D$2:$D$5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43-6243-93FF-BA006A7DA1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088320544"/>
        <c:axId val="-1087720176"/>
      </c:barChart>
      <c:catAx>
        <c:axId val="-1088320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ea typeface="+mn-ea"/>
                <a:cs typeface="Rubik" pitchFamily="2" charset="-79"/>
              </a:defRPr>
            </a:pPr>
            <a:endParaRPr lang="en-IT"/>
          </a:p>
        </c:txPr>
        <c:crossAx val="-1087720176"/>
        <c:crosses val="autoZero"/>
        <c:auto val="1"/>
        <c:lblAlgn val="ctr"/>
        <c:lblOffset val="100"/>
        <c:noMultiLvlLbl val="0"/>
      </c:catAx>
      <c:valAx>
        <c:axId val="-108772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-1088320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ea typeface="+mn-ea"/>
              <a:cs typeface="Rubik" pitchFamily="2" charset="-79"/>
            </a:defRPr>
          </a:pPr>
          <a:endParaRPr lang="en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85F60-0429-014B-94F4-5F04CDE84950}" type="datetimeFigureOut">
              <a:rPr lang="it-IT" smtClean="0"/>
              <a:t>21/06/25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7F3DC-54A1-8348-9B9C-E6CA6C4BBF2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9610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9B9958FE-5604-404E-8CFA-78FDCCB3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B06AE38A-F37A-7D46-A340-4C7B145E3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788187"/>
            <a:ext cx="10650644" cy="68902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Titolo della presentazione</a:t>
            </a:r>
            <a:br>
              <a:rPr lang="it-IT" dirty="0"/>
            </a:br>
            <a:r>
              <a:rPr lang="it-IT" dirty="0"/>
              <a:t>fino a 2 righe (slide indice)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A7CA3FF-1A1E-FD47-86A1-810C49CFD445}"/>
              </a:ext>
            </a:extLst>
          </p:cNvPr>
          <p:cNvSpPr txBox="1"/>
          <p:nvPr userDrawn="1"/>
        </p:nvSpPr>
        <p:spPr>
          <a:xfrm>
            <a:off x="774828" y="490985"/>
            <a:ext cx="850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0" i="0" dirty="0">
                <a:solidFill>
                  <a:srgbClr val="426EB0"/>
                </a:solidFill>
                <a:latin typeface="Rubik" pitchFamily="2" charset="-79"/>
                <a:cs typeface="Rubik" pitchFamily="2" charset="-79"/>
              </a:rPr>
              <a:t>INDICE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82D60A8-F793-1943-A516-C848EC0F6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700" y="1571625"/>
            <a:ext cx="10650538" cy="7762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Sottotitolo della presentazione 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5C8BB61-84B7-B74E-AE6B-B221D27BAE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700" y="2643188"/>
            <a:ext cx="4946650" cy="248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Capitolo n° (o titolo)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B594B802-CC87-544A-8F48-49ABD2BFD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4700" y="2904048"/>
            <a:ext cx="4946650" cy="765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consectetur</a:t>
            </a:r>
            <a:r>
              <a:rPr lang="it-IT" dirty="0"/>
              <a:t>…</a:t>
            </a:r>
          </a:p>
        </p:txBody>
      </p:sp>
      <p:sp>
        <p:nvSpPr>
          <p:cNvPr id="19" name="Segnaposto testo 6">
            <a:extLst>
              <a:ext uri="{FF2B5EF4-FFF2-40B4-BE49-F238E27FC236}">
                <a16:creationId xmlns:a16="http://schemas.microsoft.com/office/drawing/2014/main" id="{F7178EBB-A607-5549-B1C0-858378B01E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700" y="3669223"/>
            <a:ext cx="4946650" cy="248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Capitolo n° (o titolo)</a:t>
            </a:r>
          </a:p>
        </p:txBody>
      </p:sp>
      <p:sp>
        <p:nvSpPr>
          <p:cNvPr id="20" name="Segnaposto testo 13">
            <a:extLst>
              <a:ext uri="{FF2B5EF4-FFF2-40B4-BE49-F238E27FC236}">
                <a16:creationId xmlns:a16="http://schemas.microsoft.com/office/drawing/2014/main" id="{78D4905F-7E97-3848-9593-6CD196906F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4700" y="3930083"/>
            <a:ext cx="4946650" cy="765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consectetur</a:t>
            </a:r>
            <a:r>
              <a:rPr lang="it-IT" dirty="0"/>
              <a:t>…</a:t>
            </a:r>
          </a:p>
        </p:txBody>
      </p: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11911B18-BBF5-5C45-83B1-D0C3D9BD6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700" y="4695258"/>
            <a:ext cx="4946650" cy="248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Capitolo n° (o titolo)</a:t>
            </a:r>
          </a:p>
        </p:txBody>
      </p:sp>
      <p:sp>
        <p:nvSpPr>
          <p:cNvPr id="22" name="Segnaposto testo 13">
            <a:extLst>
              <a:ext uri="{FF2B5EF4-FFF2-40B4-BE49-F238E27FC236}">
                <a16:creationId xmlns:a16="http://schemas.microsoft.com/office/drawing/2014/main" id="{39A2FB51-76B6-6D4C-A58C-09B2AC0D72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4700" y="4956118"/>
            <a:ext cx="4946650" cy="765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consectetur</a:t>
            </a:r>
            <a:r>
              <a:rPr lang="it-IT" dirty="0"/>
              <a:t>…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0C97B4B4-0A07-6446-9B89-F31A8D2672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1468" y="2630621"/>
            <a:ext cx="4946650" cy="248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Capitolo n° (o titolo)</a:t>
            </a:r>
          </a:p>
        </p:txBody>
      </p:sp>
      <p:sp>
        <p:nvSpPr>
          <p:cNvPr id="24" name="Segnaposto testo 13">
            <a:extLst>
              <a:ext uri="{FF2B5EF4-FFF2-40B4-BE49-F238E27FC236}">
                <a16:creationId xmlns:a16="http://schemas.microsoft.com/office/drawing/2014/main" id="{99403183-F5D5-124B-83CF-11107F07E7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61468" y="2891481"/>
            <a:ext cx="4946650" cy="765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consectetur</a:t>
            </a:r>
            <a:r>
              <a:rPr lang="it-IT" dirty="0"/>
              <a:t>…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3302862-B9D7-274D-B40F-F421FF7FD5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61468" y="3656656"/>
            <a:ext cx="4946650" cy="248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Capitolo n° (o titolo)</a:t>
            </a:r>
          </a:p>
        </p:txBody>
      </p:sp>
      <p:sp>
        <p:nvSpPr>
          <p:cNvPr id="26" name="Segnaposto testo 13">
            <a:extLst>
              <a:ext uri="{FF2B5EF4-FFF2-40B4-BE49-F238E27FC236}">
                <a16:creationId xmlns:a16="http://schemas.microsoft.com/office/drawing/2014/main" id="{D2D52091-6215-9D48-8F8F-2D11E10FE0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1468" y="3917516"/>
            <a:ext cx="4946650" cy="765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consectetur</a:t>
            </a:r>
            <a:r>
              <a:rPr lang="it-IT" dirty="0"/>
              <a:t>…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66BB167B-F50F-A944-9208-5A1763C0DF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1468" y="4682691"/>
            <a:ext cx="4946650" cy="2482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Capitolo n° (o titolo)</a:t>
            </a:r>
          </a:p>
        </p:txBody>
      </p:sp>
      <p:sp>
        <p:nvSpPr>
          <p:cNvPr id="28" name="Segnaposto testo 13">
            <a:extLst>
              <a:ext uri="{FF2B5EF4-FFF2-40B4-BE49-F238E27FC236}">
                <a16:creationId xmlns:a16="http://schemas.microsoft.com/office/drawing/2014/main" id="{F3EBBE11-3691-3C49-882C-3D011CFA5F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1468" y="4943551"/>
            <a:ext cx="4946650" cy="7651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consectetur</a:t>
            </a:r>
            <a:r>
              <a:rPr lang="it-IT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32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sto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67467B-D67A-E942-A1A0-204F35803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Titolo della slide</a:t>
            </a:r>
            <a:br>
              <a:rPr lang="it-IT" dirty="0"/>
            </a:br>
            <a:r>
              <a:rPr lang="it-IT" dirty="0"/>
              <a:t>fino a 2 righe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897087-8B22-1A48-99C5-5F9BFE8DE7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7" y="2201713"/>
            <a:ext cx="10650645" cy="3587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  <a:p>
            <a:pPr lvl="0"/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 pulvinar </a:t>
            </a:r>
            <a:r>
              <a:rPr lang="it-IT" dirty="0" err="1"/>
              <a:t>arcu</a:t>
            </a:r>
            <a:r>
              <a:rPr lang="it-IT" dirty="0"/>
              <a:t>, in </a:t>
            </a:r>
            <a:r>
              <a:rPr lang="it-IT" dirty="0" err="1"/>
              <a:t>auctor</a:t>
            </a:r>
            <a:r>
              <a:rPr lang="it-IT" dirty="0"/>
              <a:t> </a:t>
            </a:r>
            <a:r>
              <a:rPr lang="it-IT" dirty="0" err="1"/>
              <a:t>lectus</a:t>
            </a:r>
            <a:r>
              <a:rPr lang="it-IT" dirty="0"/>
              <a:t>. In non </a:t>
            </a:r>
            <a:r>
              <a:rPr lang="it-IT" dirty="0" err="1"/>
              <a:t>risus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cursus </a:t>
            </a:r>
            <a:r>
              <a:rPr lang="it-IT" dirty="0" err="1"/>
              <a:t>laoreet</a:t>
            </a:r>
            <a:r>
              <a:rPr lang="it-IT" dirty="0"/>
              <a:t> eros,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“</a:t>
            </a:r>
            <a:r>
              <a:rPr lang="it-IT" dirty="0" err="1"/>
              <a:t>Nullam</a:t>
            </a:r>
            <a:r>
              <a:rPr lang="it-IT" dirty="0"/>
              <a:t> non </a:t>
            </a:r>
            <a:r>
              <a:rPr lang="it-IT" dirty="0" err="1"/>
              <a:t>nisl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 </a:t>
            </a:r>
            <a:r>
              <a:rPr lang="it-IT" dirty="0" err="1"/>
              <a:t>feugiat</a:t>
            </a:r>
            <a:r>
              <a:rPr lang="it-IT" dirty="0"/>
              <a:t> gravida </a:t>
            </a:r>
            <a:r>
              <a:rPr lang="it-IT" dirty="0" err="1"/>
              <a:t>eu</a:t>
            </a:r>
            <a:r>
              <a:rPr lang="it-IT" dirty="0"/>
              <a:t> ut est”.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fermentum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finibus</a:t>
            </a:r>
            <a:r>
              <a:rPr lang="it-IT" dirty="0"/>
              <a:t>,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ex </a:t>
            </a:r>
            <a:r>
              <a:rPr lang="it-IT" dirty="0" err="1"/>
              <a:t>dignissim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</a:t>
            </a:r>
            <a:r>
              <a:rPr lang="it-IT" dirty="0" err="1"/>
              <a:t>maximus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.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et </a:t>
            </a:r>
            <a:r>
              <a:rPr lang="it-IT" dirty="0" err="1"/>
              <a:t>justo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 </a:t>
            </a:r>
            <a:r>
              <a:rPr lang="it-IT" dirty="0" err="1"/>
              <a:t>luctus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molestie orci </a:t>
            </a:r>
            <a:r>
              <a:rPr lang="it-IT" dirty="0" err="1"/>
              <a:t>metus</a:t>
            </a:r>
            <a:r>
              <a:rPr lang="it-IT" dirty="0"/>
              <a:t>, et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risus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erat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a urna </a:t>
            </a:r>
            <a:r>
              <a:rPr lang="it-IT" dirty="0" err="1"/>
              <a:t>erat</a:t>
            </a:r>
            <a:r>
              <a:rPr lang="it-IT" dirty="0"/>
              <a:t>.</a:t>
            </a:r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0DFF7B08-7113-1145-B6E7-0F4D8BB9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33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Testo + Immagi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414B5D59-1901-B345-8133-5967BE78B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5162986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testo</a:t>
            </a:r>
            <a:br>
              <a:rPr lang="it-IT" dirty="0"/>
            </a:br>
            <a:r>
              <a:rPr lang="it-IT" dirty="0"/>
              <a:t>+ immagine quadrata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6C9EFE9-1ADE-434E-A1F4-D291CE6FCD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8" y="2201713"/>
            <a:ext cx="5167136" cy="3587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5E96A3BF-2EA0-1A46-8A84-93BD1F1D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6EC9CA-2053-2147-82C1-A6F9330155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2038" y="569913"/>
            <a:ext cx="5265737" cy="52197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8987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Testo + Immagine full hig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E8E7D984-C09A-DF4C-B2B1-663568982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5162986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testo </a:t>
            </a:r>
            <a:br>
              <a:rPr lang="it-IT" dirty="0"/>
            </a:br>
            <a:r>
              <a:rPr lang="it-IT" dirty="0"/>
              <a:t>+ immagine grande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DF703EF7-18B7-B447-AC6E-5E04F39360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8" y="2201713"/>
            <a:ext cx="5167136" cy="3587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1C5EB0-9C77-9947-BBBC-2A67763E29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5075" y="0"/>
            <a:ext cx="5876925" cy="6858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278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+ Immagine full hig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EAFADF3-7260-4D41-B2D4-88141C4ED8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8" y="569535"/>
            <a:ext cx="5167136" cy="52198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Slide solo testo e immagine (senza titolo)</a:t>
            </a:r>
          </a:p>
          <a:p>
            <a:pPr lvl="0"/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br>
              <a:rPr lang="it-IT" dirty="0"/>
            </a:br>
            <a:br>
              <a:rPr lang="it-IT" dirty="0"/>
            </a:b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A590323-184F-B249-BBA0-BEA8E6D279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64275" y="0"/>
            <a:ext cx="5927725" cy="6858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564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7E1B5BF-7244-C44D-B0AC-C385AC339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4700" y="569913"/>
            <a:ext cx="10633075" cy="50895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2DBD91D1-D38D-7149-BCF4-9559A1465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5162986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titolo</a:t>
            </a:r>
            <a:br>
              <a:rPr lang="it-IT" dirty="0"/>
            </a:br>
            <a:r>
              <a:rPr lang="it-IT" dirty="0"/>
              <a:t>e immagine grande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24A6E12A-B63B-9042-9470-5572B3CA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50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è Immagin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E7D4C383-6489-A945-A5E0-4A0F1CEDA0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096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013296ED-A744-8A4E-93BB-29B143B858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F6754049-5E38-6940-91FA-2B4188B0C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5162986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titolo </a:t>
            </a:r>
            <a:br>
              <a:rPr lang="it-IT" dirty="0"/>
            </a:br>
            <a:r>
              <a:rPr lang="it-IT" dirty="0"/>
              <a:t>e immagine full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95EF4794-7DFC-6A42-BE46-6EEA1BCE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770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F298496F-A2A1-224A-9FAD-B5923D50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49277408-D2E6-4B4E-B7D4-F70D1960A1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titolo</a:t>
            </a:r>
            <a:br>
              <a:rPr lang="it-IT" dirty="0"/>
            </a:br>
            <a:r>
              <a:rPr lang="it-IT" dirty="0"/>
              <a:t>e testo due colonne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3A2EB66D-1A6D-1247-9307-A8FB9B30E5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7" y="2201713"/>
            <a:ext cx="10650645" cy="3587672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  <a:p>
            <a:pPr lvl="0"/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 pulvinar </a:t>
            </a:r>
            <a:r>
              <a:rPr lang="it-IT" dirty="0" err="1"/>
              <a:t>arcu</a:t>
            </a:r>
            <a:r>
              <a:rPr lang="it-IT" dirty="0"/>
              <a:t>, in </a:t>
            </a:r>
            <a:r>
              <a:rPr lang="it-IT" dirty="0" err="1"/>
              <a:t>auctor</a:t>
            </a:r>
            <a:r>
              <a:rPr lang="it-IT" dirty="0"/>
              <a:t> </a:t>
            </a:r>
            <a:r>
              <a:rPr lang="it-IT" dirty="0" err="1"/>
              <a:t>lectus</a:t>
            </a:r>
            <a:r>
              <a:rPr lang="it-IT" dirty="0"/>
              <a:t>. In non </a:t>
            </a:r>
            <a:r>
              <a:rPr lang="it-IT" dirty="0" err="1"/>
              <a:t>risus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cursus </a:t>
            </a:r>
            <a:r>
              <a:rPr lang="it-IT" dirty="0" err="1"/>
              <a:t>laoreet</a:t>
            </a:r>
            <a:r>
              <a:rPr lang="it-IT" dirty="0"/>
              <a:t> eros,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“</a:t>
            </a:r>
            <a:r>
              <a:rPr lang="it-IT" dirty="0" err="1"/>
              <a:t>Nullam</a:t>
            </a:r>
            <a:r>
              <a:rPr lang="it-IT" dirty="0"/>
              <a:t> non </a:t>
            </a:r>
            <a:r>
              <a:rPr lang="it-IT" dirty="0" err="1"/>
              <a:t>nisl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 </a:t>
            </a:r>
            <a:r>
              <a:rPr lang="it-IT" dirty="0" err="1"/>
              <a:t>feugiat</a:t>
            </a:r>
            <a:r>
              <a:rPr lang="it-IT" dirty="0"/>
              <a:t> gravida </a:t>
            </a:r>
            <a:r>
              <a:rPr lang="it-IT" dirty="0" err="1"/>
              <a:t>eu</a:t>
            </a:r>
            <a:r>
              <a:rPr lang="it-IT" dirty="0"/>
              <a:t> ut est”.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fermentum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finibus</a:t>
            </a:r>
            <a:r>
              <a:rPr lang="it-IT" dirty="0"/>
              <a:t>,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ex </a:t>
            </a:r>
            <a:r>
              <a:rPr lang="it-IT" dirty="0" err="1"/>
              <a:t>dignissim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</a:t>
            </a:r>
            <a:r>
              <a:rPr lang="it-IT" dirty="0" err="1"/>
              <a:t>maximus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.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et </a:t>
            </a:r>
            <a:r>
              <a:rPr lang="it-IT" dirty="0" err="1"/>
              <a:t>justo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 </a:t>
            </a:r>
            <a:r>
              <a:rPr lang="it-IT" dirty="0" err="1"/>
              <a:t>luctus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molestie orci </a:t>
            </a:r>
            <a:r>
              <a:rPr lang="it-IT" dirty="0" err="1"/>
              <a:t>metus</a:t>
            </a:r>
            <a:r>
              <a:rPr lang="it-IT" dirty="0"/>
              <a:t>, et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risus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erat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a urna </a:t>
            </a:r>
            <a:r>
              <a:rPr lang="it-IT" dirty="0" err="1"/>
              <a:t>erat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061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Paragraf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8086CEB9-9569-DB40-AA0F-7123645B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93FF4A5-61E0-B842-810D-44A72AB5E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titolo</a:t>
            </a:r>
            <a:br>
              <a:rPr lang="it-IT" dirty="0"/>
            </a:br>
            <a:r>
              <a:rPr lang="it-IT" dirty="0"/>
              <a:t>+ due paragrafi titolati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C36FAC4A-8B62-7B46-BDBF-08DA3A65DF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7" y="2697479"/>
            <a:ext cx="10650645" cy="3091905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  <a:p>
            <a:pPr lvl="0"/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 pulvinar </a:t>
            </a:r>
            <a:r>
              <a:rPr lang="it-IT" dirty="0" err="1"/>
              <a:t>arcu</a:t>
            </a:r>
            <a:r>
              <a:rPr lang="it-IT" dirty="0"/>
              <a:t>, in </a:t>
            </a:r>
            <a:r>
              <a:rPr lang="it-IT" dirty="0" err="1"/>
              <a:t>auctor</a:t>
            </a:r>
            <a:r>
              <a:rPr lang="it-IT" dirty="0"/>
              <a:t> </a:t>
            </a:r>
            <a:r>
              <a:rPr lang="it-IT" dirty="0" err="1"/>
              <a:t>lectus</a:t>
            </a:r>
            <a:r>
              <a:rPr lang="it-IT" dirty="0"/>
              <a:t>. In non </a:t>
            </a:r>
            <a:r>
              <a:rPr lang="it-IT" dirty="0" err="1"/>
              <a:t>risus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cursus </a:t>
            </a:r>
            <a:r>
              <a:rPr lang="it-IT" dirty="0" err="1"/>
              <a:t>laoreet</a:t>
            </a:r>
            <a:r>
              <a:rPr lang="it-IT" dirty="0"/>
              <a:t> eros,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“</a:t>
            </a:r>
            <a:r>
              <a:rPr lang="it-IT" dirty="0" err="1"/>
              <a:t>Nullam</a:t>
            </a:r>
            <a:r>
              <a:rPr lang="it-IT" dirty="0"/>
              <a:t> non </a:t>
            </a:r>
            <a:r>
              <a:rPr lang="it-IT" dirty="0" err="1"/>
              <a:t>nisl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 </a:t>
            </a:r>
            <a:r>
              <a:rPr lang="it-IT" dirty="0" err="1"/>
              <a:t>feugiat</a:t>
            </a:r>
            <a:r>
              <a:rPr lang="it-IT" dirty="0"/>
              <a:t> gravida </a:t>
            </a:r>
            <a:r>
              <a:rPr lang="it-IT" dirty="0" err="1"/>
              <a:t>eu</a:t>
            </a:r>
            <a:r>
              <a:rPr lang="it-IT" dirty="0"/>
              <a:t> ut est”.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fermentum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finibus</a:t>
            </a:r>
            <a:r>
              <a:rPr lang="it-IT" dirty="0"/>
              <a:t>,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ex </a:t>
            </a:r>
            <a:r>
              <a:rPr lang="it-IT" dirty="0" err="1"/>
              <a:t>dignissim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</a:t>
            </a:r>
            <a:r>
              <a:rPr lang="it-IT" dirty="0" err="1"/>
              <a:t>maximus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.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et </a:t>
            </a:r>
            <a:r>
              <a:rPr lang="it-IT" dirty="0" err="1"/>
              <a:t>justo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 </a:t>
            </a:r>
            <a:r>
              <a:rPr lang="it-IT" dirty="0" err="1"/>
              <a:t>luctus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molestie orci </a:t>
            </a:r>
            <a:r>
              <a:rPr lang="it-IT" dirty="0" err="1"/>
              <a:t>metus</a:t>
            </a:r>
            <a:r>
              <a:rPr lang="it-IT" dirty="0"/>
              <a:t>, et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risus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erat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a urna </a:t>
            </a:r>
            <a:r>
              <a:rPr lang="it-IT" dirty="0" err="1"/>
              <a:t>erat</a:t>
            </a:r>
            <a:r>
              <a:rPr lang="it-IT" dirty="0"/>
              <a:t>.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049C2603-ED0A-DF4C-91FA-A9F48A6CA4B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70677" y="2201713"/>
            <a:ext cx="5081483" cy="295870"/>
          </a:xfrm>
          <a:prstGeom prst="rect">
            <a:avLst/>
          </a:prstGeom>
        </p:spPr>
        <p:txBody>
          <a:bodyPr numCol="1" spcCol="0">
            <a:normAutofit/>
          </a:bodyPr>
          <a:lstStyle>
            <a:lvl1pPr marL="0" indent="0">
              <a:buNone/>
              <a:defRPr sz="1800" b="1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Titolo paragrafo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8DD28BFA-1FCC-0248-9D86-944C764792A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0021" y="2201713"/>
            <a:ext cx="5231301" cy="295870"/>
          </a:xfrm>
          <a:prstGeom prst="rect">
            <a:avLst/>
          </a:prstGeom>
        </p:spPr>
        <p:txBody>
          <a:bodyPr numCol="1" spcCol="0">
            <a:normAutofit/>
          </a:bodyPr>
          <a:lstStyle>
            <a:lvl1pPr marL="0" indent="0">
              <a:buNone/>
              <a:defRPr sz="1800" b="1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Titolo paragrafo</a:t>
            </a:r>
          </a:p>
        </p:txBody>
      </p:sp>
    </p:spTree>
    <p:extLst>
      <p:ext uri="{BB962C8B-B14F-4D97-AF65-F5344CB8AC3E}">
        <p14:creationId xmlns:p14="http://schemas.microsoft.com/office/powerpoint/2010/main" val="406125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4EC7AE-9250-B946-9EB8-BC432250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217" y="2203323"/>
            <a:ext cx="10642961" cy="35860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Rubik" pitchFamily="2" charset="-79"/>
                <a:cs typeface="Rubik" pitchFamily="2" charset="-79"/>
              </a:defRPr>
            </a:lvl1pPr>
            <a:lvl2pPr>
              <a:defRPr sz="1600">
                <a:latin typeface="Rubik" pitchFamily="2" charset="-79"/>
                <a:cs typeface="Rubik" pitchFamily="2" charset="-79"/>
              </a:defRPr>
            </a:lvl2pPr>
            <a:lvl3pPr>
              <a:defRPr sz="1200">
                <a:latin typeface="Rubik" pitchFamily="2" charset="-79"/>
                <a:cs typeface="Rubik" pitchFamily="2" charset="-79"/>
              </a:defRPr>
            </a:lvl3pPr>
            <a:lvl4pPr>
              <a:defRPr sz="2000">
                <a:latin typeface="Rubik" pitchFamily="2" charset="-79"/>
                <a:cs typeface="Rubik" pitchFamily="2" charset="-79"/>
              </a:defRPr>
            </a:lvl4pPr>
            <a:lvl5pPr>
              <a:defRPr sz="200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E82551A4-41A1-BF49-B600-3990D26A0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titolo </a:t>
            </a:r>
            <a:br>
              <a:rPr lang="it-IT" dirty="0"/>
            </a:br>
            <a:r>
              <a:rPr lang="it-IT" dirty="0"/>
              <a:t>e punto elenco</a:t>
            </a:r>
          </a:p>
        </p:txBody>
      </p:sp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99F6BAC3-2ABC-DA49-BC1C-62E7E140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513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+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4EC7AE-9250-B946-9EB8-BC432250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218" y="2203323"/>
            <a:ext cx="5260880" cy="35860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Rubik" pitchFamily="2" charset="-79"/>
                <a:cs typeface="Rubik" pitchFamily="2" charset="-79"/>
              </a:defRPr>
            </a:lvl1pPr>
            <a:lvl2pPr>
              <a:defRPr sz="1600">
                <a:latin typeface="Rubik" pitchFamily="2" charset="-79"/>
                <a:cs typeface="Rubik" pitchFamily="2" charset="-79"/>
              </a:defRPr>
            </a:lvl2pPr>
            <a:lvl3pPr>
              <a:defRPr sz="1200">
                <a:latin typeface="Rubik" pitchFamily="2" charset="-79"/>
                <a:cs typeface="Rubik" pitchFamily="2" charset="-79"/>
              </a:defRPr>
            </a:lvl3pPr>
            <a:lvl4pPr>
              <a:defRPr sz="2000">
                <a:latin typeface="Rubik" pitchFamily="2" charset="-79"/>
                <a:cs typeface="Rubik" pitchFamily="2" charset="-79"/>
              </a:defRPr>
            </a:lvl4pPr>
            <a:lvl5pPr>
              <a:defRPr sz="200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E82551A4-41A1-BF49-B600-3990D26A0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Slide titolo </a:t>
            </a:r>
            <a:br>
              <a:rPr lang="it-IT" dirty="0"/>
            </a:br>
            <a:r>
              <a:rPr lang="it-IT" dirty="0"/>
              <a:t>e due punto elenco</a:t>
            </a:r>
          </a:p>
        </p:txBody>
      </p:sp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99F6BAC3-2ABC-DA49-BC1C-62E7E140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5" name="Segnaposto contenuto 3">
            <a:extLst>
              <a:ext uri="{FF2B5EF4-FFF2-40B4-BE49-F238E27FC236}">
                <a16:creationId xmlns:a16="http://schemas.microsoft.com/office/drawing/2014/main" id="{0A4F796F-A158-3B49-B01D-0DBB3D3C4D3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64592" y="2203323"/>
            <a:ext cx="5260880" cy="35860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Rubik" pitchFamily="2" charset="-79"/>
                <a:cs typeface="Rubik" pitchFamily="2" charset="-79"/>
              </a:defRPr>
            </a:lvl1pPr>
            <a:lvl2pPr>
              <a:defRPr sz="1600">
                <a:latin typeface="Rubik" pitchFamily="2" charset="-79"/>
                <a:cs typeface="Rubik" pitchFamily="2" charset="-79"/>
              </a:defRPr>
            </a:lvl2pPr>
            <a:lvl3pPr>
              <a:defRPr sz="1200">
                <a:latin typeface="Rubik" pitchFamily="2" charset="-79"/>
                <a:cs typeface="Rubik" pitchFamily="2" charset="-79"/>
              </a:defRPr>
            </a:lvl3pPr>
            <a:lvl4pPr>
              <a:defRPr sz="2000">
                <a:latin typeface="Rubik" pitchFamily="2" charset="-79"/>
                <a:cs typeface="Rubik" pitchFamily="2" charset="-79"/>
              </a:defRPr>
            </a:lvl4pPr>
            <a:lvl5pPr>
              <a:defRPr sz="200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1823489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921C8003-4F0C-B94F-9FE8-A28BFA9EA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217" y="569535"/>
            <a:ext cx="10642961" cy="5219850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>
              <a:defRPr sz="1800" b="1">
                <a:latin typeface="Rubik" pitchFamily="2" charset="-79"/>
                <a:cs typeface="Rubik" pitchFamily="2" charset="-79"/>
              </a:defRPr>
            </a:lvl1pPr>
            <a:lvl2pPr>
              <a:defRPr sz="1600">
                <a:latin typeface="Rubik" pitchFamily="2" charset="-79"/>
                <a:cs typeface="Rubik" pitchFamily="2" charset="-79"/>
              </a:defRPr>
            </a:lvl2pPr>
            <a:lvl3pPr>
              <a:defRPr sz="1200">
                <a:latin typeface="Rubik" pitchFamily="2" charset="-79"/>
                <a:cs typeface="Rubik" pitchFamily="2" charset="-79"/>
              </a:defRPr>
            </a:lvl3pPr>
            <a:lvl4pPr>
              <a:defRPr sz="2000">
                <a:latin typeface="Rubik" pitchFamily="2" charset="-79"/>
                <a:cs typeface="Rubik" pitchFamily="2" charset="-79"/>
              </a:defRPr>
            </a:lvl4pPr>
            <a:lvl5pPr>
              <a:defRPr sz="200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  <a:p>
            <a:pPr lvl="2"/>
            <a:endParaRPr lang="it-IT" dirty="0"/>
          </a:p>
          <a:p>
            <a:pPr lvl="2"/>
            <a:endParaRPr lang="it-IT" dirty="0"/>
          </a:p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2"/>
            <a:endParaRPr lang="it-IT" dirty="0"/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142B3ECC-045E-3D45-81BD-DC9945DD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8162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+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1F8847FC-3607-104A-BDD8-73CA4C4B90A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8" y="569535"/>
            <a:ext cx="5167136" cy="52198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Ut et ligula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iaculis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. Morbi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Suspendisse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, </a:t>
            </a:r>
            <a:r>
              <a:rPr lang="it-IT" dirty="0" err="1"/>
              <a:t>tincidunt</a:t>
            </a:r>
            <a:r>
              <a:rPr lang="it-IT" dirty="0"/>
              <a:t> pulvinar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 </a:t>
            </a:r>
            <a:r>
              <a:rPr lang="it-IT" dirty="0" err="1"/>
              <a:t>erat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ut mi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tortor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accumsan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id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.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D063E752-FC99-A249-BB88-73C9E4E3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1" name="Segnaposto contenuto 3">
            <a:extLst>
              <a:ext uri="{FF2B5EF4-FFF2-40B4-BE49-F238E27FC236}">
                <a16:creationId xmlns:a16="http://schemas.microsoft.com/office/drawing/2014/main" id="{143B471E-7CEB-024E-9D9E-A69E81E86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69535"/>
            <a:ext cx="5239978" cy="5219850"/>
          </a:xfrm>
          <a:prstGeom prst="rect">
            <a:avLst/>
          </a:prstGeom>
        </p:spPr>
        <p:txBody>
          <a:bodyPr numCol="1" spcCol="0">
            <a:normAutofit/>
          </a:bodyPr>
          <a:lstStyle>
            <a:lvl1pPr>
              <a:defRPr sz="1800" b="1">
                <a:latin typeface="Rubik" pitchFamily="2" charset="-79"/>
                <a:cs typeface="Rubik" pitchFamily="2" charset="-79"/>
              </a:defRPr>
            </a:lvl1pPr>
            <a:lvl2pPr>
              <a:defRPr sz="1600">
                <a:latin typeface="Rubik" pitchFamily="2" charset="-79"/>
                <a:cs typeface="Rubik" pitchFamily="2" charset="-79"/>
              </a:defRPr>
            </a:lvl2pPr>
            <a:lvl3pPr>
              <a:defRPr sz="1200">
                <a:latin typeface="Rubik" pitchFamily="2" charset="-79"/>
                <a:cs typeface="Rubik" pitchFamily="2" charset="-79"/>
              </a:defRPr>
            </a:lvl3pPr>
            <a:lvl4pPr>
              <a:defRPr sz="2000">
                <a:latin typeface="Rubik" pitchFamily="2" charset="-79"/>
                <a:cs typeface="Rubik" pitchFamily="2" charset="-79"/>
              </a:defRPr>
            </a:lvl4pPr>
            <a:lvl5pPr>
              <a:defRPr sz="200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</a:t>
            </a:r>
            <a:r>
              <a:rPr lang="it-IT" dirty="0" err="1"/>
              <a:t>livelloTerzo</a:t>
            </a:r>
            <a:r>
              <a:rPr lang="it-IT" dirty="0"/>
              <a:t> livello</a:t>
            </a:r>
          </a:p>
          <a:p>
            <a:pPr lvl="2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1200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8715B9ED-2EE3-C04A-B74D-B54C6187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1271985D-3113-DC47-839E-4C2FB070A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99671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1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Titolo della slide</a:t>
            </a:r>
            <a:br>
              <a:rPr lang="it-IT" dirty="0"/>
            </a:br>
            <a:r>
              <a:rPr lang="it-IT" dirty="0"/>
              <a:t>fino a 2 righe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EFE370B8-594B-3B4C-A499-384818115B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677" y="2201713"/>
            <a:ext cx="2923499" cy="3587672"/>
          </a:xfrm>
          <a:prstGeom prst="rect">
            <a:avLst/>
          </a:prstGeom>
        </p:spPr>
        <p:txBody>
          <a:bodyPr numCol="1" spcCol="0">
            <a:normAutofit/>
          </a:bodyPr>
          <a:lstStyle>
            <a:lvl1pPr marL="0" indent="0">
              <a:buNone/>
              <a:defRPr sz="1800" b="0" i="0"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it-IT" dirty="0"/>
              <a:t>Testo della slide.</a:t>
            </a:r>
            <a:br>
              <a:rPr lang="it-IT" dirty="0"/>
            </a:b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efficitur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interdum</a:t>
            </a:r>
            <a:r>
              <a:rPr lang="it-IT" dirty="0"/>
              <a:t> </a:t>
            </a:r>
            <a:r>
              <a:rPr lang="it-IT" dirty="0" err="1"/>
              <a:t>lobortis</a:t>
            </a:r>
            <a:r>
              <a:rPr lang="it-IT" dirty="0"/>
              <a:t>. </a:t>
            </a:r>
          </a:p>
        </p:txBody>
      </p:sp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FDD4A0A1-E21E-3748-A3F4-E3C231CFA12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2865821"/>
              </p:ext>
            </p:extLst>
          </p:nvPr>
        </p:nvGraphicFramePr>
        <p:xfrm>
          <a:off x="4023360" y="2201713"/>
          <a:ext cx="7384758" cy="3587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4061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zion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398942C3-1CBC-AA4C-8933-1F5FDC15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1E956E04-B809-624D-9D17-D1FF1D3F8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8" y="569535"/>
            <a:ext cx="10650644" cy="452144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500" b="0" i="1">
                <a:solidFill>
                  <a:srgbClr val="4E5960"/>
                </a:solidFill>
                <a:latin typeface="Rubik Light" pitchFamily="2" charset="-79"/>
                <a:cs typeface="Rubik Light" pitchFamily="2" charset="-79"/>
              </a:defRPr>
            </a:lvl1pPr>
          </a:lstStyle>
          <a:p>
            <a:r>
              <a:rPr lang="it-IT" dirty="0"/>
              <a:t>–</a:t>
            </a:r>
            <a:br>
              <a:rPr lang="it-IT" dirty="0"/>
            </a:br>
            <a:r>
              <a:rPr lang="it-IT" dirty="0"/>
              <a:t>Slide citazione</a:t>
            </a:r>
            <a:br>
              <a:rPr lang="it-IT" dirty="0"/>
            </a:br>
            <a:r>
              <a:rPr lang="it-IT" dirty="0"/>
              <a:t>Il tempo non è affatto ciò che sembra.</a:t>
            </a:r>
            <a:br>
              <a:rPr lang="it-IT" dirty="0"/>
            </a:br>
            <a:r>
              <a:rPr lang="it-IT" dirty="0"/>
              <a:t>Non scorre in una sola direzione, e il futuro esiste</a:t>
            </a:r>
            <a:br>
              <a:rPr lang="it-IT" dirty="0"/>
            </a:br>
            <a:r>
              <a:rPr lang="it-IT" dirty="0"/>
              <a:t>contemporaneamente al passato.</a:t>
            </a:r>
            <a:br>
              <a:rPr lang="it-IT" dirty="0"/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049E33-D45A-E14B-A374-BEC1DCADB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699" y="5353050"/>
            <a:ext cx="2475127" cy="3381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Autore citazione</a:t>
            </a:r>
          </a:p>
        </p:txBody>
      </p:sp>
    </p:spTree>
    <p:extLst>
      <p:ext uri="{BB962C8B-B14F-4D97-AF65-F5344CB8AC3E}">
        <p14:creationId xmlns:p14="http://schemas.microsoft.com/office/powerpoint/2010/main" val="3878809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 Istituzio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>
            <a:extLst>
              <a:ext uri="{FF2B5EF4-FFF2-40B4-BE49-F238E27FC236}">
                <a16:creationId xmlns:a16="http://schemas.microsoft.com/office/drawing/2014/main" id="{A59F866D-8662-7B43-9B2A-AE0275B1C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" y="0"/>
            <a:ext cx="12191546" cy="6851649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80B721A2-8B07-D445-BB00-FB076E5B49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826" y="2590030"/>
            <a:ext cx="6784921" cy="100340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500" b="1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Titolo della presentazione</a:t>
            </a:r>
            <a:br>
              <a:rPr lang="it-IT" dirty="0"/>
            </a:br>
            <a:r>
              <a:rPr lang="it-IT" dirty="0"/>
              <a:t>fino a 2 righe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32D1AF2-C051-AD42-A56F-2105AA3354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95144" y="2572782"/>
            <a:ext cx="2533650" cy="100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C96643"/>
                </a:solidFill>
              </a:defRPr>
            </a:lvl1pPr>
          </a:lstStyle>
          <a:p>
            <a:r>
              <a:rPr lang="it-IT" dirty="0"/>
              <a:t>Nome del corso di laurea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08712F4-1B35-FD44-8ADD-F4EB680917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700" y="3892550"/>
            <a:ext cx="6784975" cy="828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Sottotitolo della presentazione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F448DC8-96A6-7B47-A6FA-3D71F40312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5143" y="4362450"/>
            <a:ext cx="2533281" cy="9234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Prof. Nome cognome</a:t>
            </a:r>
          </a:p>
          <a:p>
            <a:r>
              <a:rPr lang="it-IT" dirty="0"/>
              <a:t>Dott. Nome cognome</a:t>
            </a:r>
          </a:p>
          <a:p>
            <a:r>
              <a:rPr lang="it-IT" dirty="0"/>
              <a:t>Prof.ssa Nome cognome</a:t>
            </a:r>
          </a:p>
          <a:p>
            <a:r>
              <a:rPr lang="it-IT" dirty="0"/>
              <a:t>Dott.ssa Nome cognome</a:t>
            </a:r>
          </a:p>
          <a:p>
            <a:endParaRPr lang="it-IT" dirty="0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B7DBD125-2674-B645-8018-E17886FB5F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94775" y="4070350"/>
            <a:ext cx="2533650" cy="236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RELATORI</a:t>
            </a:r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BFA5996C-AC6C-A54C-97AD-D9512F2B2D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4775" y="5342731"/>
            <a:ext cx="2533650" cy="236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SEDE</a:t>
            </a:r>
          </a:p>
        </p:txBody>
      </p:sp>
      <p:sp>
        <p:nvSpPr>
          <p:cNvPr id="21" name="Segnaposto testo 13">
            <a:extLst>
              <a:ext uri="{FF2B5EF4-FFF2-40B4-BE49-F238E27FC236}">
                <a16:creationId xmlns:a16="http://schemas.microsoft.com/office/drawing/2014/main" id="{58828116-FED3-5A4F-A24A-9C5C098A2F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4775" y="5636101"/>
            <a:ext cx="2533281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Inserire sede</a:t>
            </a:r>
          </a:p>
          <a:p>
            <a:endParaRPr lang="it-IT" dirty="0"/>
          </a:p>
        </p:txBody>
      </p:sp>
      <p:sp>
        <p:nvSpPr>
          <p:cNvPr id="22" name="Segnaposto testo 17">
            <a:extLst>
              <a:ext uri="{FF2B5EF4-FFF2-40B4-BE49-F238E27FC236}">
                <a16:creationId xmlns:a16="http://schemas.microsoft.com/office/drawing/2014/main" id="{2D502B89-82EB-5348-81D3-3CDB085299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4406" y="6277615"/>
            <a:ext cx="503865" cy="2924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DATA</a:t>
            </a:r>
          </a:p>
        </p:txBody>
      </p:sp>
      <p:sp>
        <p:nvSpPr>
          <p:cNvPr id="23" name="Segnaposto testo 13">
            <a:extLst>
              <a:ext uri="{FF2B5EF4-FFF2-40B4-BE49-F238E27FC236}">
                <a16:creationId xmlns:a16="http://schemas.microsoft.com/office/drawing/2014/main" id="{67B38C4A-E439-BB47-BC1E-B6118EBCF0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98271" y="6223006"/>
            <a:ext cx="2029785" cy="3470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it-IT" dirty="0"/>
              <a:t>16 gennaio 2021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40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B53C4FE-52FE-3449-8EAF-469CF991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918" y="62929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426EB0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017CC9F7-E331-4A4D-8258-210102ABDB4E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608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46568B60-325E-CE4E-AA6F-C1701A1DBD2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2700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407C50C3-610F-EC4E-A6B4-589C5D9B0DF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03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1" r:id="rId3"/>
    <p:sldLayoutId id="2147483655" r:id="rId4"/>
    <p:sldLayoutId id="2147483660" r:id="rId5"/>
    <p:sldLayoutId id="2147483654" r:id="rId6"/>
    <p:sldLayoutId id="2147483659" r:id="rId7"/>
    <p:sldLayoutId id="2147483661" r:id="rId8"/>
    <p:sldLayoutId id="2147483662" r:id="rId9"/>
    <p:sldLayoutId id="2147483653" r:id="rId10"/>
    <p:sldLayoutId id="2147483666" r:id="rId11"/>
    <p:sldLayoutId id="2147483663" r:id="rId12"/>
    <p:sldLayoutId id="2147483664" r:id="rId13"/>
    <p:sldLayoutId id="2147483656" r:id="rId14"/>
    <p:sldLayoutId id="2147483657" r:id="rId15"/>
    <p:sldLayoutId id="2147483665" r:id="rId16"/>
    <p:sldLayoutId id="21474836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lab-deep-learning/MATLAB-Deep-Learning-Model-Hub" TargetMode="External"/><Relationship Id="rId2" Type="http://schemas.openxmlformats.org/officeDocument/2006/relationships/hyperlink" Target="https://it.mathworks.com/solutions/deep-learning/model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B0EE40-F97B-4D9D-BA19-FCAA420A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26" y="2590030"/>
            <a:ext cx="6912163" cy="1665145"/>
          </a:xfrm>
        </p:spPr>
        <p:txBody>
          <a:bodyPr/>
          <a:lstStyle/>
          <a:p>
            <a:r>
              <a:rPr lang="it-IT" noProof="0" dirty="0"/>
              <a:t>Tesi Lidar </a:t>
            </a:r>
            <a:r>
              <a:rPr lang="it-IT" dirty="0"/>
              <a:t>R</a:t>
            </a:r>
            <a:r>
              <a:rPr lang="it-IT" noProof="0" dirty="0" err="1"/>
              <a:t>obosense</a:t>
            </a:r>
            <a:r>
              <a:rPr lang="it-IT" noProof="0" dirty="0"/>
              <a:t> RS128</a:t>
            </a:r>
            <a:br>
              <a:rPr lang="it-IT" noProof="0" dirty="0"/>
            </a:br>
            <a:br>
              <a:rPr lang="it-IT" noProof="0" dirty="0"/>
            </a:br>
            <a:r>
              <a:rPr lang="it-IT" sz="1800" noProof="0" dirty="0"/>
              <a:t>Workflow</a:t>
            </a:r>
            <a:br>
              <a:rPr lang="it-IT" sz="1800" noProof="0" dirty="0"/>
            </a:b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B9B331-CD06-427E-ACCD-70A8C2AC6D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5143" y="2572782"/>
            <a:ext cx="3032733" cy="1003300"/>
          </a:xfrm>
        </p:spPr>
        <p:txBody>
          <a:bodyPr>
            <a:normAutofit/>
          </a:bodyPr>
          <a:lstStyle/>
          <a:p>
            <a:r>
              <a:rPr lang="it-IT" sz="2400" noProof="0" dirty="0"/>
              <a:t>Workflow lineup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106F5DC-04DF-2516-5D1A-F65FBA84C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5143" y="3467395"/>
            <a:ext cx="3032733" cy="438705"/>
          </a:xfrm>
        </p:spPr>
        <p:txBody>
          <a:bodyPr/>
          <a:lstStyle/>
          <a:p>
            <a:r>
              <a:rPr lang="it-IT" sz="1600" noProof="0" dirty="0"/>
              <a:t>Cristian Sacco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24EDF2-D575-5168-95DA-4B799B7034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94775" y="3282407"/>
            <a:ext cx="2533650" cy="236538"/>
          </a:xfrm>
        </p:spPr>
        <p:txBody>
          <a:bodyPr/>
          <a:lstStyle/>
          <a:p>
            <a:r>
              <a:rPr lang="it-IT" sz="1000" noProof="0" dirty="0"/>
              <a:t>SPEAKER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DB8C408-F94C-7A8F-9F42-62FFDFF6E7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94037" y="5101832"/>
            <a:ext cx="2533650" cy="236538"/>
          </a:xfrm>
        </p:spPr>
        <p:txBody>
          <a:bodyPr/>
          <a:lstStyle/>
          <a:p>
            <a:r>
              <a:rPr lang="it-IT" sz="1000" noProof="0" dirty="0"/>
              <a:t>PLACE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E560621-213F-A993-56DF-BEA5D58AE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93668" y="5284154"/>
            <a:ext cx="3117268" cy="512763"/>
          </a:xfrm>
        </p:spPr>
        <p:txBody>
          <a:bodyPr/>
          <a:lstStyle/>
          <a:p>
            <a:r>
              <a:rPr lang="it-IT" sz="1600" noProof="0" dirty="0"/>
              <a:t>University of Bergamo</a:t>
            </a:r>
          </a:p>
        </p:txBody>
      </p:sp>
      <p:sp>
        <p:nvSpPr>
          <p:cNvPr id="11" name="Segnaposto testo 4">
            <a:extLst>
              <a:ext uri="{FF2B5EF4-FFF2-40B4-BE49-F238E27FC236}">
                <a16:creationId xmlns:a16="http://schemas.microsoft.com/office/drawing/2014/main" id="{B2706D6E-06DB-0E38-B11D-E885AD48B76C}"/>
              </a:ext>
            </a:extLst>
          </p:cNvPr>
          <p:cNvSpPr txBox="1">
            <a:spLocks/>
          </p:cNvSpPr>
          <p:nvPr/>
        </p:nvSpPr>
        <p:spPr>
          <a:xfrm>
            <a:off x="8995143" y="4440163"/>
            <a:ext cx="3032733" cy="4387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noProof="0" dirty="0"/>
              <a:t>March 2025</a:t>
            </a:r>
          </a:p>
        </p:txBody>
      </p:sp>
      <p:sp>
        <p:nvSpPr>
          <p:cNvPr id="12" name="Segnaposto testo 5">
            <a:extLst>
              <a:ext uri="{FF2B5EF4-FFF2-40B4-BE49-F238E27FC236}">
                <a16:creationId xmlns:a16="http://schemas.microsoft.com/office/drawing/2014/main" id="{F9F2DE61-FE1D-9C1F-7EDD-270A61AC6BE7}"/>
              </a:ext>
            </a:extLst>
          </p:cNvPr>
          <p:cNvSpPr txBox="1">
            <a:spLocks/>
          </p:cNvSpPr>
          <p:nvPr/>
        </p:nvSpPr>
        <p:spPr>
          <a:xfrm>
            <a:off x="8994775" y="4255175"/>
            <a:ext cx="2533650" cy="2365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426EB0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2406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2CC99-81DF-A489-90B6-D71DA066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78" y="763499"/>
            <a:ext cx="10650644" cy="996715"/>
          </a:xfrm>
        </p:spPr>
        <p:txBody>
          <a:bodyPr>
            <a:normAutofit/>
          </a:bodyPr>
          <a:lstStyle/>
          <a:p>
            <a:r>
              <a:rPr lang="it-IT" noProof="0" dirty="0"/>
              <a:t>Outline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F70DBB9-633E-47F9-BBC9-9B94F736C18F}"/>
              </a:ext>
            </a:extLst>
          </p:cNvPr>
          <p:cNvSpPr txBox="1"/>
          <p:nvPr/>
        </p:nvSpPr>
        <p:spPr>
          <a:xfrm>
            <a:off x="886691" y="1856509"/>
            <a:ext cx="1013229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2000" b="1" noProof="0" dirty="0"/>
              <a:t>Introduzione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b="1" noProof="0" dirty="0"/>
              <a:t>Calcolo distanza montaggio sensore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b="1" noProof="0" dirty="0"/>
              <a:t>Cattura &amp; import </a:t>
            </a:r>
            <a:r>
              <a:rPr lang="it-IT" sz="2000" b="1" dirty="0"/>
              <a:t>dati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b="1" noProof="0" dirty="0"/>
              <a:t>Analisi files .</a:t>
            </a:r>
            <a:r>
              <a:rPr lang="it-IT" sz="2000" b="1" noProof="0" dirty="0" err="1"/>
              <a:t>pcd</a:t>
            </a:r>
            <a:endParaRPr lang="it-IT" sz="2000" b="1" noProof="0" dirty="0"/>
          </a:p>
          <a:p>
            <a:pPr marL="457200" indent="-457200">
              <a:buFont typeface="+mj-lt"/>
              <a:buAutoNum type="arabicPeriod"/>
            </a:pPr>
            <a:r>
              <a:rPr lang="it-IT" sz="2000" b="1" noProof="0" dirty="0"/>
              <a:t>Computer vision models in Matlab: state of the art</a:t>
            </a:r>
          </a:p>
          <a:p>
            <a:pPr marL="342900" indent="-342900">
              <a:buAutoNum type="arabicParenR"/>
            </a:pPr>
            <a:endParaRPr lang="it-IT" noProof="0" dirty="0"/>
          </a:p>
          <a:p>
            <a:pPr marL="342900" indent="-342900">
              <a:buAutoNum type="arabicParenR"/>
            </a:pP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30382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2CC99-81DF-A489-90B6-D71DA066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78" y="2629244"/>
            <a:ext cx="10650644" cy="996715"/>
          </a:xfrm>
        </p:spPr>
        <p:txBody>
          <a:bodyPr/>
          <a:lstStyle/>
          <a:p>
            <a:r>
              <a:rPr lang="it-IT" noProof="0" dirty="0"/>
              <a:t>1. Introduzione</a:t>
            </a:r>
          </a:p>
        </p:txBody>
      </p:sp>
    </p:spTree>
    <p:extLst>
      <p:ext uri="{BB962C8B-B14F-4D97-AF65-F5344CB8AC3E}">
        <p14:creationId xmlns:p14="http://schemas.microsoft.com/office/powerpoint/2010/main" val="182810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6FD0B1-E867-41F5-C2A2-8D14B277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1. 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C14AA6-77AF-2EE2-6620-1BBD7EF7E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677" y="1754909"/>
            <a:ext cx="10650645" cy="4034476"/>
          </a:xfrm>
        </p:spPr>
        <p:txBody>
          <a:bodyPr/>
          <a:lstStyle/>
          <a:p>
            <a:r>
              <a:rPr lang="it-IT" b="1" noProof="0" dirty="0"/>
              <a:t>Robosense RS128</a:t>
            </a:r>
          </a:p>
          <a:p>
            <a:pPr marL="285750" indent="-285750">
              <a:buFontTx/>
              <a:buChar char="-"/>
            </a:pPr>
            <a:r>
              <a:rPr lang="it-IT" sz="1800" b="1" dirty="0"/>
              <a:t>Scheda tecnica</a:t>
            </a:r>
          </a:p>
          <a:p>
            <a:pPr marL="285750" indent="-285750">
              <a:buFontTx/>
              <a:buChar char="-"/>
            </a:pPr>
            <a:r>
              <a:rPr lang="it-IT" b="1" dirty="0"/>
              <a:t>Configurazione</a:t>
            </a:r>
            <a:endParaRPr lang="it-IT" sz="1800" b="1" dirty="0"/>
          </a:p>
          <a:p>
            <a:pPr marL="285750" indent="-285750">
              <a:buFontTx/>
              <a:buChar char="-"/>
            </a:pPr>
            <a:endParaRPr lang="it-IT" sz="1800" noProof="0" dirty="0"/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9291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A0E8-5611-76C2-91F8-AB691E89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FABB5-22D0-4B44-ED3E-27717E26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78" y="2629244"/>
            <a:ext cx="10650644" cy="996715"/>
          </a:xfrm>
        </p:spPr>
        <p:txBody>
          <a:bodyPr/>
          <a:lstStyle/>
          <a:p>
            <a:r>
              <a:rPr lang="it-IT" dirty="0"/>
              <a:t>2</a:t>
            </a:r>
            <a:r>
              <a:rPr lang="it-IT" noProof="0" dirty="0"/>
              <a:t>. Calcolo distanza montaggio sensore</a:t>
            </a:r>
          </a:p>
        </p:txBody>
      </p:sp>
    </p:spTree>
    <p:extLst>
      <p:ext uri="{BB962C8B-B14F-4D97-AF65-F5344CB8AC3E}">
        <p14:creationId xmlns:p14="http://schemas.microsoft.com/office/powerpoint/2010/main" val="273165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A144-FC3B-DDA4-52F7-9AD9E75F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4725D9-AFEF-64CA-2F41-830C0C9B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2. Calcolo distanza montaggio sensore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71420F-6DD3-F34C-1622-AA165E155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678" y="1566250"/>
            <a:ext cx="10463380" cy="4223135"/>
          </a:xfrm>
        </p:spPr>
        <p:txBody>
          <a:bodyPr/>
          <a:lstStyle/>
          <a:p>
            <a:r>
              <a:rPr lang="it-IT" noProof="0" dirty="0"/>
              <a:t>Il sensore ha una densità di raggi emessi verticalmente maggiore tra 3.8° (</a:t>
            </a:r>
            <a:r>
              <a:rPr lang="el-G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it-IT" noProof="0" dirty="0"/>
              <a:t> e -6.5° (</a:t>
            </a:r>
            <a:r>
              <a:rPr lang="el-GR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it-IT" noProof="0" dirty="0"/>
              <a:t>.</a:t>
            </a:r>
          </a:p>
          <a:p>
            <a:r>
              <a:rPr lang="it-IT" noProof="0" dirty="0"/>
              <a:t>Per rilevare l’altezza di un salto (~ 2 - 2.5 m), sarà necessario valutare l’altezza e la distanza a cui il sensore verrà montato;</a:t>
            </a:r>
          </a:p>
          <a:p>
            <a:r>
              <a:rPr lang="it-IT" dirty="0"/>
              <a:t>N.B.: il sensore ha una apertura molto più ampia sull’emissione dei raggi, ma per fruttare al meglio le caratteristiche sulla densità di raggi ho utilizzato tali dati.</a:t>
            </a:r>
            <a:endParaRPr lang="it-IT" noProof="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50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9054-92C7-A3FE-7A14-1C439D17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942561-9B3F-8C75-B425-A0060ACE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2. Calcolo distanza montaggio sensore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30EFE-1879-C7DA-F2A5-98FB8A02D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087" y="2477984"/>
            <a:ext cx="4168501" cy="2400508"/>
          </a:xfrm>
        </p:spPr>
      </p:pic>
    </p:spTree>
    <p:extLst>
      <p:ext uri="{BB962C8B-B14F-4D97-AF65-F5344CB8AC3E}">
        <p14:creationId xmlns:p14="http://schemas.microsoft.com/office/powerpoint/2010/main" val="77946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15C78-3814-2856-0789-215EF604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4C906A-10A5-6F76-1D34-E6D9C610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2. Calcolo distanza montaggio sensore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750AD82-032E-B622-96F3-7C44203E2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677" y="1566250"/>
                <a:ext cx="10650645" cy="4223135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=3.8°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=6.5°</m:t>
                      </m:r>
                    </m:oMath>
                    <m:oMath xmlns:m="http://schemas.openxmlformats.org/officeDocument/2006/math"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=2.5 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b="0" i="1" noProof="0" dirty="0">
                  <a:latin typeface="Cambria Math" panose="02040503050406030204" pitchFamily="18" charset="0"/>
                </a:endParaRPr>
              </a:p>
              <a:p>
                <a:endParaRPr lang="en-GB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?=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noProof="0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noProof="0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GB" b="0" i="0" noProof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b="0" i="1" noProof="0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noProof="0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GB" b="0" i="0" noProof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GB" b="0" i="0" noProof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=14.35 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=0.88 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=1.62 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GB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=13.9 </m:t>
                              </m:r>
                              <m:r>
                                <a:rPr lang="en-GB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noProof="0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750AD82-032E-B622-96F3-7C44203E2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677" y="1566250"/>
                <a:ext cx="10650645" cy="422313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783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E50A4-2EC3-8722-731F-E1CEA5AC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9BDC08-F850-88EB-95A9-41E701B0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2. Calcolo distanza montaggio sensore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7F3B10-D2B9-437A-C03A-7334B1435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6923" y="2390346"/>
            <a:ext cx="4778154" cy="2575783"/>
          </a:xfrm>
        </p:spPr>
      </p:pic>
    </p:spTree>
    <p:extLst>
      <p:ext uri="{BB962C8B-B14F-4D97-AF65-F5344CB8AC3E}">
        <p14:creationId xmlns:p14="http://schemas.microsoft.com/office/powerpoint/2010/main" val="3749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0A4F-5442-4B66-A827-14415D7F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4CA484-E724-826C-46DA-E486FBFF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78" y="2629244"/>
            <a:ext cx="10650644" cy="996715"/>
          </a:xfrm>
        </p:spPr>
        <p:txBody>
          <a:bodyPr/>
          <a:lstStyle/>
          <a:p>
            <a:r>
              <a:rPr lang="it-IT" dirty="0"/>
              <a:t>3. Cattura &amp; import dati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02887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5C69-1B86-3C77-88CF-9369F7AF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</a:t>
            </a:r>
            <a:r>
              <a:rPr lang="en-GB" dirty="0" err="1"/>
              <a:t>Cattura</a:t>
            </a:r>
            <a:r>
              <a:rPr lang="en-GB" dirty="0"/>
              <a:t> &amp; import </a:t>
            </a:r>
            <a:r>
              <a:rPr lang="en-GB" dirty="0" err="1"/>
              <a:t>dati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8565-6EA3-7BB6-67ED-1746EFEFE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Prima </a:t>
            </a:r>
            <a:r>
              <a:rPr lang="en-GB" b="1" dirty="0" err="1"/>
              <a:t>fase</a:t>
            </a:r>
            <a:r>
              <a:rPr lang="en-GB" dirty="0"/>
              <a:t>: </a:t>
            </a:r>
            <a:r>
              <a:rPr lang="en-GB" dirty="0" err="1"/>
              <a:t>esportazione</a:t>
            </a:r>
            <a:r>
              <a:rPr lang="en-GB" dirty="0"/>
              <a:t> file .</a:t>
            </a:r>
            <a:r>
              <a:rPr lang="en-GB" dirty="0" err="1"/>
              <a:t>pcap</a:t>
            </a:r>
            <a:r>
              <a:rPr lang="en-GB" dirty="0"/>
              <a:t> (</a:t>
            </a:r>
            <a:r>
              <a:rPr lang="en-GB" i="1" dirty="0"/>
              <a:t>Wireshark</a:t>
            </a:r>
            <a:r>
              <a:rPr lang="en-GB" dirty="0"/>
              <a:t>)</a:t>
            </a:r>
          </a:p>
          <a:p>
            <a:r>
              <a:rPr lang="en-GB" b="1" dirty="0" err="1"/>
              <a:t>Seconda</a:t>
            </a:r>
            <a:r>
              <a:rPr lang="en-GB" b="1" dirty="0"/>
              <a:t> </a:t>
            </a:r>
            <a:r>
              <a:rPr lang="en-GB" b="1" dirty="0" err="1"/>
              <a:t>fase</a:t>
            </a:r>
            <a:r>
              <a:rPr lang="en-GB" b="1" dirty="0"/>
              <a:t>: </a:t>
            </a:r>
            <a:r>
              <a:rPr lang="en-GB" dirty="0"/>
              <a:t>conversion file .</a:t>
            </a:r>
            <a:r>
              <a:rPr lang="en-GB" dirty="0" err="1"/>
              <a:t>pcap</a:t>
            </a:r>
            <a:r>
              <a:rPr lang="en-GB" dirty="0"/>
              <a:t> in .</a:t>
            </a:r>
            <a:r>
              <a:rPr lang="en-GB" dirty="0" err="1"/>
              <a:t>pcd</a:t>
            </a:r>
            <a:r>
              <a:rPr lang="en-GB" dirty="0"/>
              <a:t> (</a:t>
            </a:r>
            <a:r>
              <a:rPr lang="en-GB" i="1" dirty="0" err="1"/>
              <a:t>RSViewer</a:t>
            </a:r>
            <a:r>
              <a:rPr lang="en-GB" dirty="0"/>
              <a:t>)</a:t>
            </a:r>
          </a:p>
          <a:p>
            <a:r>
              <a:rPr lang="en-GB" b="1" dirty="0"/>
              <a:t>Terza </a:t>
            </a:r>
            <a:r>
              <a:rPr lang="en-GB" b="1" dirty="0" err="1"/>
              <a:t>fase</a:t>
            </a:r>
            <a:r>
              <a:rPr lang="en-GB" b="1" dirty="0"/>
              <a:t>:</a:t>
            </a:r>
            <a:r>
              <a:rPr lang="en-GB" dirty="0"/>
              <a:t> import files .</a:t>
            </a:r>
            <a:r>
              <a:rPr lang="en-GB" dirty="0" err="1"/>
              <a:t>pcd</a:t>
            </a:r>
            <a:r>
              <a:rPr lang="en-GB" dirty="0"/>
              <a:t> in </a:t>
            </a:r>
            <a:r>
              <a:rPr lang="en-GB" i="1" dirty="0" err="1"/>
              <a:t>Matlab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83657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8EDA-5512-D3CB-107F-1AAC99D9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4. Analisi files .</a:t>
            </a:r>
            <a:r>
              <a:rPr lang="it-IT" dirty="0" err="1"/>
              <a:t>pcd</a:t>
            </a:r>
            <a:r>
              <a:rPr lang="it-IT" dirty="0"/>
              <a:t> (Matlab)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84034-4FDA-A4F1-254C-705C2CAB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singolo file </a:t>
            </a:r>
            <a:r>
              <a:rPr lang="it-IT" dirty="0" err="1"/>
              <a:t>pcd</a:t>
            </a:r>
            <a:r>
              <a:rPr lang="it-IT" dirty="0"/>
              <a:t> può subire operazioni di:</a:t>
            </a:r>
          </a:p>
          <a:p>
            <a:pPr marL="285750" indent="-285750">
              <a:buFontTx/>
              <a:buChar char="-"/>
            </a:pPr>
            <a:r>
              <a:rPr lang="it-IT" dirty="0"/>
              <a:t>Rimozione punti nulli</a:t>
            </a:r>
          </a:p>
          <a:p>
            <a:pPr marL="285750" indent="-285750">
              <a:buFontTx/>
              <a:buChar char="-"/>
            </a:pPr>
            <a:r>
              <a:rPr lang="it-IT" dirty="0"/>
              <a:t>Riduzione distanza coperta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Denoise</a:t>
            </a:r>
            <a:r>
              <a:rPr lang="it-IT" dirty="0"/>
              <a:t> (rimozione di </a:t>
            </a:r>
            <a:r>
              <a:rPr lang="it-IT" dirty="0" err="1"/>
              <a:t>outliers</a:t>
            </a:r>
            <a:r>
              <a:rPr lang="it-IT" dirty="0"/>
              <a:t>, valori anomali)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Downsample</a:t>
            </a:r>
            <a:r>
              <a:rPr lang="it-IT" dirty="0"/>
              <a:t> (ritorna un insieme </a:t>
            </a:r>
            <a:r>
              <a:rPr lang="it-IT" dirty="0" err="1"/>
              <a:t>sottocampionato</a:t>
            </a:r>
            <a:r>
              <a:rPr lang="it-IT" dirty="0"/>
              <a:t> di punti; tale operazione può servire in caso di elaborazione troppo pesante delle informazioni)</a:t>
            </a:r>
          </a:p>
          <a:p>
            <a:pPr marL="285750" indent="-285750">
              <a:buFontTx/>
              <a:buChar char="-"/>
            </a:pPr>
            <a:r>
              <a:rPr lang="it-IT" dirty="0"/>
              <a:t>Ground </a:t>
            </a:r>
            <a:r>
              <a:rPr lang="it-IT" dirty="0" err="1"/>
              <a:t>Segmentation</a:t>
            </a:r>
            <a:r>
              <a:rPr lang="it-IT" dirty="0"/>
              <a:t> (individuazione e successiva rimozione del terreno)</a:t>
            </a:r>
          </a:p>
          <a:p>
            <a:pPr marL="285750" indent="-285750">
              <a:buFontTx/>
              <a:buChar char="-"/>
            </a:pPr>
            <a:r>
              <a:rPr lang="it-IT" dirty="0"/>
              <a:t>Rotazione attorno asse </a:t>
            </a:r>
            <a:r>
              <a:rPr lang="it-IT" dirty="0" err="1"/>
              <a:t>z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6562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6E15-FDDE-2F77-1552-F618D93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5. Models: 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C3FCB-0593-E62C-1ED0-BE1C7966A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it-IT" dirty="0"/>
              <a:t>Modelli per inferenza su point clouds</a:t>
            </a:r>
          </a:p>
          <a:p>
            <a:pPr marL="285750" indent="-285750">
              <a:buFontTx/>
              <a:buChar char="-"/>
            </a:pPr>
            <a:r>
              <a:rPr lang="it-IT" dirty="0"/>
              <a:t>Modelli «</a:t>
            </a:r>
            <a:r>
              <a:rPr lang="it-IT" dirty="0" err="1"/>
              <a:t>Projection-based</a:t>
            </a:r>
            <a:r>
              <a:rPr lang="it-IT" dirty="0"/>
              <a:t>»:</a:t>
            </a:r>
          </a:p>
          <a:p>
            <a:pPr marL="285750" indent="-285750">
              <a:buFontTx/>
              <a:buChar char="-"/>
            </a:pPr>
            <a:r>
              <a:rPr lang="it-IT" dirty="0"/>
              <a:t>Modelli «Voxel-</a:t>
            </a:r>
            <a:r>
              <a:rPr lang="it-IT" dirty="0" err="1"/>
              <a:t>based</a:t>
            </a:r>
            <a:r>
              <a:rPr lang="it-IT" dirty="0"/>
              <a:t>»:</a:t>
            </a:r>
          </a:p>
          <a:p>
            <a:pPr marL="285750" indent="-285750">
              <a:buFontTx/>
              <a:buChar char="-"/>
            </a:pPr>
            <a:r>
              <a:rPr lang="it-IT" dirty="0"/>
              <a:t>Modelli «Point-</a:t>
            </a:r>
            <a:r>
              <a:rPr lang="it-IT" dirty="0" err="1"/>
              <a:t>based</a:t>
            </a:r>
            <a:r>
              <a:rPr lang="it-IT" dirty="0"/>
              <a:t>»:</a:t>
            </a:r>
          </a:p>
          <a:p>
            <a:pPr marL="285750" indent="-285750">
              <a:buFontTx/>
              <a:buChar char="-"/>
            </a:pPr>
            <a:r>
              <a:rPr lang="it-IT" dirty="0"/>
              <a:t>Modelli «</a:t>
            </a:r>
            <a:r>
              <a:rPr lang="it-IT" dirty="0" err="1"/>
              <a:t>Hybrid-based</a:t>
            </a:r>
            <a:r>
              <a:rPr lang="it-IT" dirty="0"/>
              <a:t>»: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Tx/>
              <a:buChar char="-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2682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8230-DD12-99B4-88A4-FFBFEEEF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Modelli pre-addestrati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6E15E-68D7-B6DA-D96C-1E7B0848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Modelli pre-addestrati con Python (TensorFlow, Pytorch, ONNX,...)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Modelli pre-addestrati su Matlab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b="1" dirty="0"/>
              <a:t>Transfer learning?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501424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08AE-2BD4-95CC-4B2D-A3E091E6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Reti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F708C-88DE-1CC2-B86B-293F008D5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https://it.mathworks.com/solutions/deep-learning/models.html</a:t>
            </a:r>
            <a:endParaRPr lang="en-GB" dirty="0"/>
          </a:p>
          <a:p>
            <a:r>
              <a:rPr lang="en-GB" dirty="0">
                <a:hlinkClick r:id="rId3"/>
              </a:rPr>
              <a:t>https://github.com/matlab-deep-learning/MATLAB-Deep-Learning-Model-Hub</a:t>
            </a:r>
            <a:endParaRPr lang="en-GB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46998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5CA3-7FEE-5D20-7510-0D3C4855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PointPillars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95F8-75FC-EA7B-DB8D-82B83C25F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3727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E4D5A35-7237-BF93-4D4D-8CE50368D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28" y="2930642"/>
            <a:ext cx="10650644" cy="996715"/>
          </a:xfrm>
        </p:spPr>
        <p:txBody>
          <a:bodyPr/>
          <a:lstStyle/>
          <a:p>
            <a:r>
              <a:rPr lang="it-IT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28120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UniBg_Theme">
      <a:dk1>
        <a:srgbClr val="182642"/>
      </a:dk1>
      <a:lt1>
        <a:srgbClr val="FFFFFF"/>
      </a:lt1>
      <a:dk2>
        <a:srgbClr val="1B345C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FA92114A3471B4D8F75B1A14ABF07B0" ma:contentTypeVersion="0" ma:contentTypeDescription="Creare un nuovo documento." ma:contentTypeScope="" ma:versionID="2630c44b3dd4e32674348721ebe279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225e9aae371dd734b3cca370db3570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C16365-F120-405E-BC21-08A6EC07CC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2E596D-799B-4DD9-8325-1BBF4D0C1A6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2AE9D79-AD05-4A57-B035-6E52B0DDA6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13960</TotalTime>
  <Words>384</Words>
  <Application>Microsoft Macintosh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Rubik</vt:lpstr>
      <vt:lpstr>Rubik Light</vt:lpstr>
      <vt:lpstr>Times New Roman</vt:lpstr>
      <vt:lpstr>Tema di Office</vt:lpstr>
      <vt:lpstr>Tesi Lidar Robosense RS128  Workflow </vt:lpstr>
      <vt:lpstr>Outline</vt:lpstr>
      <vt:lpstr>1. Introduzione</vt:lpstr>
      <vt:lpstr>1. Introduzione</vt:lpstr>
      <vt:lpstr>2. Calcolo distanza montaggio sensore</vt:lpstr>
      <vt:lpstr>2. Calcolo distanza montaggio sensore</vt:lpstr>
      <vt:lpstr>2. Calcolo distanza montaggio sensore</vt:lpstr>
      <vt:lpstr>2. Calcolo distanza montaggio sensore</vt:lpstr>
      <vt:lpstr>2. Calcolo distanza montaggio sensore</vt:lpstr>
      <vt:lpstr>3. Cattura &amp; import dati</vt:lpstr>
      <vt:lpstr>3. Cattura &amp; import dati</vt:lpstr>
      <vt:lpstr>4. Analisi files .pcd (Matlab)</vt:lpstr>
      <vt:lpstr>5. Models: state of the art</vt:lpstr>
      <vt:lpstr>Modelli pre-addestrati</vt:lpstr>
      <vt:lpstr>Reti Matlab</vt:lpstr>
      <vt:lpstr>PointPillars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Utente di Microsoft Office</dc:creator>
  <cp:keywords/>
  <dc:description/>
  <cp:lastModifiedBy>CRISTIAN SACCO</cp:lastModifiedBy>
  <cp:revision>239</cp:revision>
  <dcterms:created xsi:type="dcterms:W3CDTF">2018-11-28T11:02:36Z</dcterms:created>
  <dcterms:modified xsi:type="dcterms:W3CDTF">2025-06-21T12:04:38Z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0x0101007FA92114A3471B4D8F75B1A14ABF07B0</vt:lpwstr>
  </property>
</Properties>
</file>